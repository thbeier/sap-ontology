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728655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</a:rPr>
              <a:t>SAP Ontology for
Context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0"/>
            <a:ext cx="1072865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>
                <a:solidFill>
                  <a:srgbClr val="006EC7"/>
                </a:solidFill>
              </a:rPr>
              <a:t>A technology-independent semantic model for reasoning across Architecture × Business Process × Implementation / Change.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035040"/>
            <a:ext cx="107286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v0.2.0 · CC-BY-SA 4.0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228600"/>
          <a:lstStyle/>
          <a:p>
            <a:pPr algn="l"/>
            <a:r>
              <a:rPr sz="2800" b="1">
                <a:solidFill>
                  <a:srgbClr val="FFFFFF"/>
                </a:solidFill>
              </a:rP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11277295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>
                <a:solidFill>
                  <a:srgbClr val="4A4A4A"/>
                </a:solidFill>
              </a:rPr>
              <a:t>SAP landscapes carry decades of tribal knowledge — locked in spreadsheets and consultants' heads.</a:t>
            </a:r>
          </a:p>
          <a:p>
            <a:pPr algn="l"/>
            <a:r>
              <a:rPr sz="1800">
                <a:solidFill>
                  <a:srgbClr val="4A4A4A"/>
                </a:solidFill>
              </a:rPr>
              <a:t>Traditional RAG retrieves text chunks. AI agents need typed traversal: change → config → process → org.</a:t>
            </a:r>
          </a:p>
          <a:p>
            <a:pPr algn="l"/>
            <a:r>
              <a:rPr sz="1800">
                <a:solidFill>
                  <a:srgbClr val="4A4A4A"/>
                </a:solidFill>
              </a:rPr>
              <a:t>Every project re-discovers the same relations. Reuse across clients is near-zero today.</a:t>
            </a:r>
          </a:p>
          <a:p>
            <a:pPr algn="l"/>
            <a:r>
              <a:rPr sz="1800">
                <a:solidFill>
                  <a:srgbClr val="4A4A4A"/>
                </a:solidFill>
              </a:rPr>
              <a:t>No common vocabulary means no shared graph, no audit trail, no scenario branching.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4A4A4A"/>
                </a:solidFill>
              </a:rPr>
              <a:t>SAP Ontology for Context Engineering · v0.2.0 · 2/14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228600"/>
          <a:lstStyle/>
          <a:p>
            <a:pPr algn="l"/>
            <a:r>
              <a:rPr sz="2800" b="1">
                <a:solidFill>
                  <a:srgbClr val="FFFFFF"/>
                </a:solidFill>
              </a:rPr>
              <a:t>What it 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11277295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>
                <a:solidFill>
                  <a:srgbClr val="4A4A4A"/>
                </a:solidFill>
              </a:rPr>
              <a:t>A Deloitte-curated, technology-independent upper ontology — published under CC-BY-SA 4.0.</a:t>
            </a:r>
          </a:p>
          <a:p>
            <a:pPr algn="l"/>
            <a:r>
              <a:rPr sz="1800">
                <a:solidFill>
                  <a:srgbClr val="4A4A4A"/>
                </a:solidFill>
              </a:rPr>
              <a:t>JSON-LD 1.1 schema + SHACL shapes + canonical examples — no vendor lock-in.</a:t>
            </a:r>
          </a:p>
          <a:p>
            <a:pPr algn="l"/>
            <a:r>
              <a:rPr sz="1800">
                <a:solidFill>
                  <a:srgbClr val="4A4A4A"/>
                </a:solidFill>
              </a:rPr>
              <a:t>Anchored on industry standards (ArchiMate, BPMN, APQC, ITIL 4, TOGAF) — not invented from scratch.</a:t>
            </a:r>
          </a:p>
          <a:p>
            <a:pPr algn="l"/>
            <a:r>
              <a:rPr sz="1800">
                <a:solidFill>
                  <a:srgbClr val="4A4A4A"/>
                </a:solidFill>
              </a:rPr>
              <a:t>Companion proprietary federation runtime: Excel/CSV → SHACL → Neo4j, with per-tenant scenarios.</a:t>
            </a:r>
          </a:p>
          <a:p>
            <a:pPr algn="l"/>
            <a:r>
              <a:rPr sz="1800">
                <a:solidFill>
                  <a:srgbClr val="4A4A4A"/>
                </a:solidFill>
              </a:rPr>
              <a:t>Current release: v0.2.0 — 20 concrete classes, 30+ inter-domain relations.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4A4A4A"/>
                </a:solidFill>
              </a:rPr>
              <a:t>SAP Ontology for Context Engineering · v0.2.0 · 3/14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228600"/>
          <a:lstStyle/>
          <a:p>
            <a:pPr algn="l"/>
            <a:r>
              <a:rPr sz="2800" b="1">
                <a:solidFill>
                  <a:srgbClr val="FFFFFF"/>
                </a:solidFill>
              </a:rPr>
              <a:t>Five domains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051560"/>
            <a:ext cx="1146017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006EC7"/>
                </a:solidFill>
              </a:rPr>
              <a:t>Three primary + two cross-cutting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645920"/>
            <a:ext cx="2606040" cy="1828800"/>
          </a:xfrm>
          <a:prstGeom prst="roundRect">
            <a:avLst/>
          </a:prstGeom>
          <a:solidFill>
            <a:srgbClr val="F2F5FA"/>
          </a:solidFill>
          <a:ln>
            <a:solidFill>
              <a:srgbClr val="0B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0B1F3A"/>
                </a:solidFill>
              </a:rPr>
              <a:t>Architecture</a:t>
            </a:r>
          </a:p>
          <a:p>
            <a:pPr algn="ctr"/>
            <a:r>
              <a:rPr sz="1200">
                <a:solidFill>
                  <a:srgbClr val="4A4A4A"/>
                </a:solidFill>
              </a:rPr>
              <a:t>
ApplicationComponent · Integration · TBB · DataObject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46120" y="1645920"/>
            <a:ext cx="2606040" cy="1828800"/>
          </a:xfrm>
          <a:prstGeom prst="roundRect">
            <a:avLst/>
          </a:prstGeom>
          <a:solidFill>
            <a:srgbClr val="F2F5FA"/>
          </a:solidFill>
          <a:ln>
            <a:solidFill>
              <a:srgbClr val="0B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0B1F3A"/>
                </a:solidFill>
              </a:rPr>
              <a:t>Business Process</a:t>
            </a:r>
          </a:p>
          <a:p>
            <a:pPr algn="ctr"/>
            <a:r>
              <a:rPr sz="1200">
                <a:solidFill>
                  <a:srgbClr val="4A4A4A"/>
                </a:solidFill>
              </a:rPr>
              <a:t>
Process · Activity · Event · Decision · BusinessDocument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35040" y="1645920"/>
            <a:ext cx="2606040" cy="1828800"/>
          </a:xfrm>
          <a:prstGeom prst="roundRect">
            <a:avLst/>
          </a:prstGeom>
          <a:solidFill>
            <a:srgbClr val="F2F5FA"/>
          </a:solidFill>
          <a:ln>
            <a:solidFill>
              <a:srgbClr val="0B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0B1F3A"/>
                </a:solidFill>
              </a:rPr>
              <a:t>Implementation / Change</a:t>
            </a:r>
          </a:p>
          <a:p>
            <a:pPr algn="ctr"/>
            <a:r>
              <a:rPr sz="1200">
                <a:solidFill>
                  <a:srgbClr val="4A4A4A"/>
                </a:solidFill>
              </a:rPr>
              <a:t>
Configuration · Change · Transport · TestCase · Incident · Requirement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657600"/>
            <a:ext cx="539496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006E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006EC7"/>
                </a:solidFill>
              </a:rPr>
              <a:t>Organization (cross-cutter)</a:t>
            </a:r>
          </a:p>
          <a:p>
            <a:pPr algn="ctr"/>
            <a:r>
              <a:rPr sz="1200">
                <a:solidFill>
                  <a:srgbClr val="4A4A4A"/>
                </a:solidFill>
              </a:rPr>
              <a:t>
OrgUnit · Role · Capability · User (GDPR-gated)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0" y="3657600"/>
            <a:ext cx="539496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006E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006EC7"/>
                </a:solidFill>
              </a:rPr>
              <a:t>Scenario (cross-cutter)</a:t>
            </a:r>
          </a:p>
          <a:p>
            <a:pPr algn="ctr"/>
            <a:r>
              <a:rPr sz="1200">
                <a:solidFill>
                  <a:srgbClr val="4A4A4A"/>
                </a:solidFill>
              </a:rPr>
              <a:t>
Scenario with type ∈ {as-is, to-be, variant} and lifecycleState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4A4A4A"/>
                </a:solidFill>
              </a:rPr>
              <a:t>Every domain instance carries a Provenance (where it came from) and an inScenario edge (which state it belongs to). Both are non-negotiable, enforced by SHACL.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9224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4A4A4A"/>
                </a:solidFill>
              </a:rPr>
              <a:t>SAP Ontology for Context Engineering · v0.2.0 · 4/14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228600"/>
          <a:lstStyle/>
          <a:p>
            <a:pPr algn="l"/>
            <a:r>
              <a:rPr sz="2800" b="1">
                <a:solidFill>
                  <a:srgbClr val="FFFFFF"/>
                </a:solidFill>
              </a:rPr>
              <a:t>Class catalog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051560"/>
            <a:ext cx="1146017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006EC7"/>
                </a:solidFill>
              </a:rPr>
              <a:t>20 concrete classes + 2 foundation classes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463040"/>
          <a:ext cx="11277295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9174175"/>
              </a:tblGrid>
              <a:tr h="587828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</a:rPr>
                        <a:t>Domain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</a:rPr>
                        <a:t>Classes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B1F3A"/>
                          </a:solidFill>
                        </a:rPr>
                        <a:t>Architecture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4A4A4A"/>
                          </a:solidFill>
                        </a:rPr>
                        <a:t>ApplicationComponent, Integration, TechnologyBuildingBlock, DataObject</a:t>
                      </a:r>
                    </a:p>
                  </a:txBody>
                  <a:tcPr/>
                </a:tc>
              </a:tr>
              <a:tr h="58782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B1F3A"/>
                          </a:solidFill>
                        </a:rPr>
                        <a:t>Business Process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4A4A4A"/>
                          </a:solidFill>
                        </a:rPr>
                        <a:t>Process (recursive), Activity, Event, Decision, BusinessDocument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B1F3A"/>
                          </a:solidFill>
                        </a:rPr>
                        <a:t>Implementation / Change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4A4A4A"/>
                          </a:solidFill>
                        </a:rPr>
                        <a:t>Configuration, Change, Transport, TestCase, Incident, Requirement</a:t>
                      </a:r>
                    </a:p>
                  </a:txBody>
                  <a:tcPr/>
                </a:tc>
              </a:tr>
              <a:tr h="58782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B1F3A"/>
                          </a:solidFill>
                        </a:rPr>
                        <a:t>Organization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4A4A4A"/>
                          </a:solidFill>
                        </a:rPr>
                        <a:t>OrgUnit, Role, Capability, User (GDPR-gated)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B1F3A"/>
                          </a:solidFill>
                        </a:rPr>
                        <a:t>Scenario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4A4A4A"/>
                          </a:solidFill>
                        </a:rPr>
                        <a:t>Scenario (lifecycleState ∈ {draft, active, locked, superseded})</a:t>
                      </a:r>
                    </a:p>
                  </a:txBody>
                  <a:tcPr/>
                </a:tc>
              </a:tr>
              <a:tr h="587832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B1F3A"/>
                          </a:solidFill>
                        </a:rPr>
                        <a:t>Foundation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4A4A4A"/>
                          </a:solidFill>
                        </a:rPr>
                        <a:t>Provenance (mandatory), DomainInstance (abstract marker)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576072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4A4A4A"/>
                </a:solidFill>
              </a:rPr>
              <a:t>v0.2.0 added sap:transactionCode (Activity) and sap:configurationTransaction (Configuration) as canonical SAP T-code / SPRO handles.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9224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4A4A4A"/>
                </a:solidFill>
              </a:rPr>
              <a:t>SAP Ontology for Context Engineering · v0.2.0 · 5/14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228600"/>
          <a:lstStyle/>
          <a:p>
            <a:pPr algn="l"/>
            <a:r>
              <a:rPr sz="2800" b="1">
                <a:solidFill>
                  <a:srgbClr val="FFFFFF"/>
                </a:solidFill>
              </a:rPr>
              <a:t>Inter-domain relations — the differentiator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051560"/>
            <a:ext cx="1146017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006EC7"/>
                </a:solidFill>
              </a:rPr>
              <a:t>Why this is more than a class diagram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11277295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4A4A4A"/>
                </a:solidFill>
              </a:rPr>
              <a:t>Activity      ─ supportedBy       →  ApplicationComponent       (which app runs this step)</a:t>
            </a:r>
          </a:p>
          <a:p>
            <a:pPr algn="l"/>
            <a:r>
              <a:rPr sz="1200">
                <a:solidFill>
                  <a:srgbClr val="4A4A4A"/>
                </a:solidFill>
              </a:rPr>
              <a:t>Activity      ─ realizedBy        →  Configuration              (which customizing implements the rule)</a:t>
            </a:r>
          </a:p>
          <a:p>
            <a:pPr algn="l"/>
            <a:r>
              <a:rPr sz="1200">
                <a:solidFill>
                  <a:srgbClr val="4A4A4A"/>
                </a:solidFill>
              </a:rPr>
              <a:t>BusinessDocument ─ represents     →  DataObject                 (document ↔ system-of-record entity)</a:t>
            </a:r>
          </a:p>
          <a:p>
            <a:pPr algn="l"/>
            <a:r>
              <a:rPr sz="1200">
                <a:solidFill>
                  <a:srgbClr val="4A4A4A"/>
                </a:solidFill>
              </a:rPr>
              <a:t>Change        ─ affects           →  Configuration              (what does this change touch)</a:t>
            </a:r>
          </a:p>
          <a:p>
            <a:pPr algn="l"/>
            <a:r>
              <a:rPr sz="1200">
                <a:solidFill>
                  <a:srgbClr val="4A4A4A"/>
                </a:solidFill>
              </a:rPr>
              <a:t>Change        ─ impacts           →  Activity                   (DERIVED from affects + realizedBy — query-time)</a:t>
            </a:r>
          </a:p>
          <a:p>
            <a:pPr algn="l"/>
            <a:r>
              <a:rPr sz="1200">
                <a:solidFill>
                  <a:srgbClr val="4A4A4A"/>
                </a:solidFill>
              </a:rPr>
              <a:t>Incident      ─ linkedTo          →  Activity / App / Config    (AMS entry point)</a:t>
            </a:r>
          </a:p>
          <a:p>
            <a:pPr algn="l"/>
            <a:r>
              <a:rPr sz="1200">
                <a:solidFill>
                  <a:srgbClr val="4A4A4A"/>
                </a:solidFill>
              </a:rPr>
              <a:t>TestCase      ─ validates         →  Change / Config / Activity (test coverage chain)</a:t>
            </a:r>
          </a:p>
          <a:p>
            <a:pPr algn="l"/>
            <a:r>
              <a:rPr sz="1200">
                <a:solidFill>
                  <a:srgbClr val="4A4A4A"/>
                </a:solidFill>
              </a:rPr>
              <a:t>Role          ─ executes          →  Activity                   (RACI Responsible — the org link)</a:t>
            </a:r>
          </a:p>
          <a:p>
            <a:pPr algn="l"/>
            <a:r>
              <a:rPr sz="1200">
                <a:solidFill>
                  <a:srgbClr val="4A4A4A"/>
                </a:solidFill>
              </a:rPr>
              <a:t>Role          ─ authorizedFor     →  Configuration              (SAP authorization-model link)</a:t>
            </a:r>
          </a:p>
          <a:p>
            <a:pPr algn="l"/>
            <a:r>
              <a:rPr sz="1200">
                <a:solidFill>
                  <a:srgbClr val="4A4A4A"/>
                </a:solidFill>
              </a:rPr>
              <a:t>OrgUnit       ─ owns              →  Configuration / Process    (custody / approval chain)</a:t>
            </a:r>
          </a:p>
          <a:p>
            <a:pPr algn="l"/>
            <a:r>
              <a:rPr sz="1200">
                <a:solidFill>
                  <a:srgbClr val="4A4A4A"/>
                </a:solidFill>
              </a:rPr>
              <a:t>OrgUnit       ─ consumes          →  ApplicationComponent       (which org uses which system)</a:t>
            </a:r>
          </a:p>
          <a:p>
            <a:pPr algn="l"/>
            <a:r>
              <a:rPr sz="1200">
                <a:solidFill>
                  <a:srgbClr val="4A4A4A"/>
                </a:solidFill>
              </a:rPr>
              <a:t>Process       ─ realizesCapability → Capability                 (TOGAF / BIZBOK capability map)</a:t>
            </a:r>
          </a:p>
          <a:p>
            <a:pPr algn="l"/>
            <a:r>
              <a:rPr sz="1200">
                <a:solidFill>
                  <a:srgbClr val="4A4A4A"/>
                </a:solidFill>
              </a:rPr>
              <a:t>Requirement   ─ targetsScenario   →  Scenario                   (target-state binding)</a:t>
            </a:r>
          </a:p>
          <a:p>
            <a:pPr algn="l"/>
            <a:r>
              <a:rPr sz="1200">
                <a:solidFill>
                  <a:srgbClr val="4A4A4A"/>
                </a:solidFill>
              </a:rPr>
              <a:t>Requirement   ─ implementedBy     →  Change                     (delivery chain)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85216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006EC7"/>
                </a:solidFill>
              </a:rPr>
              <a:t>These edges are the queries clients want to ask: "if I change X, what activities break?" An ontology without inter-domain edges is just a glossary.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9224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4A4A4A"/>
                </a:solidFill>
              </a:rPr>
              <a:t>SAP Ontology for Context Engineering · v0.2.0 · 6/14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228600"/>
          <a:lstStyle/>
          <a:p>
            <a:pPr algn="l"/>
            <a:r>
              <a:rPr sz="2800" b="1">
                <a:solidFill>
                  <a:srgbClr val="FFFFFF"/>
                </a:solidFill>
              </a:rPr>
              <a:t>Documents ↔ data — the business artifact bridge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051560"/>
            <a:ext cx="1146017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006EC7"/>
                </a:solidFill>
              </a:rPr>
              <a:t>One worked traversal across all three primary domains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" y="1737360"/>
            <a:ext cx="2286000" cy="1280160"/>
          </a:xfrm>
          <a:prstGeom prst="roundRect">
            <a:avLst/>
          </a:prstGeom>
          <a:solidFill>
            <a:srgbClr val="F2F5FA"/>
          </a:solidFill>
          <a:ln>
            <a:solidFill>
              <a:srgbClr val="0B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0B1F3A"/>
                </a:solidFill>
              </a:rPr>
              <a:t>Activity</a:t>
            </a:r>
          </a:p>
          <a:p>
            <a:pPr algn="ctr"/>
            <a:r>
              <a:rPr sz="1100">
                <a:solidFill>
                  <a:srgbClr val="4A4A4A"/>
                </a:solidFill>
              </a:rPr>
              <a:t>
Create Sales Order
T-code: VA01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46120" y="1737360"/>
            <a:ext cx="2286000" cy="1280160"/>
          </a:xfrm>
          <a:prstGeom prst="roundRect">
            <a:avLst/>
          </a:prstGeom>
          <a:solidFill>
            <a:srgbClr val="F2F5FA"/>
          </a:solidFill>
          <a:ln>
            <a:solidFill>
              <a:srgbClr val="0B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0B1F3A"/>
                </a:solidFill>
              </a:rPr>
              <a:t>BusinessDocument</a:t>
            </a:r>
          </a:p>
          <a:p>
            <a:pPr algn="ctr"/>
            <a:r>
              <a:rPr sz="1100">
                <a:solidFill>
                  <a:srgbClr val="4A4A4A"/>
                </a:solidFill>
              </a:rPr>
              <a:t>
Sales Order doc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80760" y="1737360"/>
            <a:ext cx="2286000" cy="1280160"/>
          </a:xfrm>
          <a:prstGeom prst="roundRect">
            <a:avLst/>
          </a:prstGeom>
          <a:solidFill>
            <a:srgbClr val="F2F5FA"/>
          </a:solidFill>
          <a:ln>
            <a:solidFill>
              <a:srgbClr val="0B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0B1F3A"/>
                </a:solidFill>
              </a:rPr>
              <a:t>DataObject</a:t>
            </a:r>
          </a:p>
          <a:p>
            <a:pPr algn="ctr"/>
            <a:r>
              <a:rPr sz="1100">
                <a:solidFill>
                  <a:srgbClr val="4A4A4A"/>
                </a:solidFill>
              </a:rPr>
              <a:t>
Customer · SalesOrder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915400" y="1737360"/>
            <a:ext cx="228600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006E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006EC7"/>
                </a:solidFill>
              </a:rPr>
              <a:t>ApplicationComponent</a:t>
            </a:r>
          </a:p>
          <a:p>
            <a:pPr algn="ctr"/>
            <a:r>
              <a:rPr sz="1100">
                <a:solidFill>
                  <a:srgbClr val="4A4A4A"/>
                </a:solidFill>
              </a:rPr>
              <a:t>
SAP S/4 — Sales &amp; Distribution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97480" y="219456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006EC7"/>
                </a:solidFill>
              </a:rPr>
              <a:t>produces  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32120" y="219456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006EC7"/>
                </a:solidFill>
              </a:rPr>
              <a:t>represents  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66760" y="219456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006EC7"/>
                </a:solidFill>
              </a:rPr>
              <a:t>←  mastersDataFor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474720"/>
            <a:ext cx="11277295" cy="2377440"/>
          </a:xfrm>
          <a:prstGeom prst="roundRect">
            <a:avLst/>
          </a:prstGeom>
          <a:solidFill>
            <a:srgbClr val="FFFFFF"/>
          </a:solidFill>
          <a:ln>
            <a:solidFill>
              <a:srgbClr val="006E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 rIns="274320"/>
          <a:lstStyle/>
          <a:p>
            <a:pPr algn="l"/>
            <a:r>
              <a:rPr sz="1400" b="1">
                <a:solidFill>
                  <a:srgbClr val="006EC7"/>
                </a:solidFill>
              </a:rPr>
              <a:t>Sample agent query</a:t>
            </a:r>
          </a:p>
          <a:p>
            <a:r>
              <a:rPr sz="1500" i="1">
                <a:solidFill>
                  <a:srgbClr val="0B1F3A"/>
                </a:solidFill>
              </a:rPr>
              <a:t>
"Which Activities produce documents whose data is mastered by SAP S/4 SD?"</a:t>
            </a:r>
          </a:p>
          <a:p>
            <a:r>
              <a:rPr sz="1200" b="1">
                <a:solidFill>
                  <a:srgbClr val="0B1F3A"/>
                </a:solidFill>
              </a:rPr>
              <a:t>
Resolved by traversal:</a:t>
            </a:r>
          </a:p>
          <a:p>
            <a:r>
              <a:rPr sz="1100">
                <a:solidFill>
                  <a:srgbClr val="4A4A4A"/>
                </a:solidFill>
                <a:latin typeface="Consolas"/>
              </a:rPr>
              <a:t>1.  match  ApplicationComponent  where  name = 'SAP S/4 SD'</a:t>
            </a:r>
          </a:p>
          <a:p>
            <a:r>
              <a:rPr sz="1100">
                <a:solidFill>
                  <a:srgbClr val="4A4A4A"/>
                </a:solidFill>
                <a:latin typeface="Consolas"/>
              </a:rPr>
              <a:t>2.  ← mastersDataFor ─  DataObject  (Customer, SalesOrder, …)</a:t>
            </a:r>
          </a:p>
          <a:p>
            <a:r>
              <a:rPr sz="1100">
                <a:solidFill>
                  <a:srgbClr val="4A4A4A"/>
                </a:solidFill>
                <a:latin typeface="Consolas"/>
              </a:rPr>
              <a:t>3.  ← represents ─      BusinessDocument  (Sales Order, Invoice, …)</a:t>
            </a:r>
          </a:p>
          <a:p>
            <a:r>
              <a:rPr sz="1100">
                <a:solidFill>
                  <a:srgbClr val="4A4A4A"/>
                </a:solidFill>
                <a:latin typeface="Consolas"/>
              </a:rPr>
              <a:t>4.  ← produces ─        Activity  (Create Sales Order, Process Invoice, …)</a:t>
            </a:r>
          </a:p>
          <a:p>
            <a:r>
              <a:rPr sz="1100">
                <a:solidFill>
                  <a:srgbClr val="4A4A4A"/>
                </a:solidFill>
              </a:rPr>
              <a:t>
Returns: 12 Activities, all in the O2C process — answered in &lt;100ms from the typed graph. The same question against unstructured docs needs RAG over thousands of pages and still misses the configuration link.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035040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006EC7"/>
                </a:solidFill>
              </a:rPr>
              <a:t>BusinessDocument is the bridge: what users see (a sales order doc) ↔ what the system stores (the SalesOrder data object).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9224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4A4A4A"/>
                </a:solidFill>
              </a:rPr>
              <a:t>SAP Ontology for Context Engineering · v0.2.0 · 7/14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228600"/>
          <a:lstStyle/>
          <a:p>
            <a:pPr algn="l"/>
            <a:r>
              <a:rPr sz="2800" b="1">
                <a:solidFill>
                  <a:srgbClr val="FFFFFF"/>
                </a:solidFill>
              </a:rPr>
              <a:t>Scenario &amp; Provenance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051560"/>
            <a:ext cx="1146017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006EC7"/>
                </a:solidFill>
              </a:rPr>
              <a:t>Two cross-cutting facts on every instance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11277295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>
                <a:solidFill>
                  <a:srgbClr val="4A4A4A"/>
                </a:solidFill>
              </a:rPr>
              <a:t>Scenario — every instance lives in at least one named state (draft / active / locked / superseded).</a:t>
            </a:r>
          </a:p>
          <a:p>
            <a:pPr algn="l"/>
            <a:r>
              <a:rPr sz="1500">
                <a:solidFill>
                  <a:srgbClr val="4A4A4A"/>
                </a:solidFill>
              </a:rPr>
              <a:t>  · scenarioType ∈ {as-is, to-be, variant} — supports parallel target-state design.</a:t>
            </a:r>
          </a:p>
          <a:p>
            <a:pPr algn="l"/>
            <a:r>
              <a:rPr sz="1500">
                <a:solidFill>
                  <a:srgbClr val="4A4A4A"/>
                </a:solidFill>
              </a:rPr>
              <a:t>  · The runtime supports fork / mutate / promote / diff on Scenarios.</a:t>
            </a:r>
          </a:p>
          <a:p>
            <a:pPr algn="l"/>
            <a:r>
              <a:rPr sz="1500">
                <a:solidFill>
                  <a:srgbClr val="4A4A4A"/>
                </a:solidFill>
              </a:rPr>
              <a:t>Provenance — every claim records: source system, extracted-by, extracted-at, confidence.</a:t>
            </a:r>
          </a:p>
          <a:p>
            <a:pPr algn="l"/>
            <a:r>
              <a:rPr sz="1500">
                <a:solidFill>
                  <a:srgbClr val="4A4A4A"/>
                </a:solidFill>
              </a:rPr>
              <a:t>  · Audit-grade lineage: "this Configuration came from Solman on 2026-04-15 with 0.92 confidence".</a:t>
            </a:r>
          </a:p>
          <a:p>
            <a:pPr algn="l"/>
            <a:r>
              <a:rPr sz="1500">
                <a:solidFill>
                  <a:srgbClr val="4A4A4A"/>
                </a:solidFill>
              </a:rPr>
              <a:t>  · Required by the base SHACL shape — missing Provenance fails ingestion outright.</a:t>
            </a:r>
          </a:p>
          <a:p>
            <a:pPr algn="l"/>
            <a:r>
              <a:rPr sz="1500">
                <a:solidFill>
                  <a:srgbClr val="4A4A4A"/>
                </a:solidFill>
              </a:rPr>
              <a:t>Together: every fact in the graph is dated, sourced, and state-scoped. No more orphan data.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9224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4A4A4A"/>
                </a:solidFill>
              </a:rPr>
              <a:t>SAP Ontology for Context Engineering · v0.2.0 · 8/14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228600"/>
          <a:lstStyle/>
          <a:p>
            <a:pPr algn="l"/>
            <a:r>
              <a:rPr sz="2800" b="1">
                <a:solidFill>
                  <a:srgbClr val="FFFFFF"/>
                </a:solidFill>
              </a:rPr>
              <a:t>Anchored on industry standards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051560"/>
            <a:ext cx="1146017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006EC7"/>
                </a:solidFill>
              </a:rPr>
              <a:t>Not invented from scratch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463040"/>
          <a:ext cx="11277295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80"/>
                <a:gridCol w="8808415"/>
              </a:tblGrid>
              <a:tr h="68580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</a:rPr>
                        <a:t>Domain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</a:rPr>
                        <a:t>Anchored on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B1F3A"/>
                          </a:solidFill>
                        </a:rPr>
                        <a:t>Architecture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4A4A4A"/>
                          </a:solidFill>
                        </a:rPr>
                        <a:t>ArchiMate Application + Technology Layer · LeanIX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B1F3A"/>
                          </a:solidFill>
                        </a:rPr>
                        <a:t>Business Process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4A4A4A"/>
                          </a:solidFill>
                        </a:rPr>
                        <a:t>BPMN 2.0 · APQC Process Classification Framework · Signavio 5-level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B1F3A"/>
                          </a:solidFill>
                        </a:rPr>
                        <a:t>Implementation / Change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4A4A4A"/>
                          </a:solidFill>
                        </a:rPr>
                        <a:t>ITIL 4 · SAP Cloud ALM · SAP TMS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B1F3A"/>
                          </a:solidFill>
                        </a:rPr>
                        <a:t>Organization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4A4A4A"/>
                          </a:solidFill>
                        </a:rPr>
                        <a:t>ArchiMate Business Layer · RACI · TOGAF BIZBOK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B1F3A"/>
                          </a:solidFill>
                        </a:rPr>
                        <a:t>Scenario / Versioning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4A4A4A"/>
                          </a:solidFill>
                        </a:rPr>
                        <a:t>Bitemporal modeling · Git-style branching semantics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65760" y="649224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4A4A4A"/>
                </a:solidFill>
              </a:rPr>
              <a:t>SAP Ontology for Context Engineering · v0.2.0 · 9/14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228600"/>
          <a:lstStyle/>
          <a:p>
            <a:pPr algn="l"/>
            <a:r>
              <a:rPr sz="2800" b="1">
                <a:solidFill>
                  <a:srgbClr val="FFFFFF"/>
                </a:solidFill>
              </a:rPr>
              <a:t>How clients use 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051560"/>
            <a:ext cx="1146017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006EC7"/>
                </a:solidFill>
              </a:rPr>
              <a:t>Sub-class, don't fork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11277295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>
                <a:solidFill>
                  <a:srgbClr val="4A4A4A"/>
                </a:solidFill>
              </a:rPr>
              <a:t>Pin an upper-model version in your project metadata (e.g., v0.2.0).</a:t>
            </a:r>
          </a:p>
          <a:p>
            <a:pPr algn="l"/>
            <a:r>
              <a:rPr sz="1500">
                <a:solidFill>
                  <a:srgbClr val="4A4A4A"/>
                </a:solidFill>
              </a:rPr>
              <a:t>Sub-class upper classes for client-specific concepts:</a:t>
            </a:r>
          </a:p>
          <a:p>
            <a:pPr algn="l"/>
            <a:r>
              <a:rPr sz="1500">
                <a:solidFill>
                  <a:srgbClr val="4A4A4A"/>
                </a:solidFill>
              </a:rPr>
              <a:t>    client:CoBuyerProfile  rdfs:subClassOf  sap:Role</a:t>
            </a:r>
          </a:p>
          <a:p>
            <a:pPr algn="l"/>
            <a:r>
              <a:rPr sz="1500">
                <a:solidFill>
                  <a:srgbClr val="4A4A4A"/>
                </a:solidFill>
              </a:rPr>
              <a:t>Instances carry a client URI scheme:</a:t>
            </a:r>
          </a:p>
          <a:p>
            <a:pPr algn="l"/>
            <a:r>
              <a:rPr sz="1500">
                <a:solidFill>
                  <a:srgbClr val="4A4A4A"/>
                </a:solidFill>
              </a:rPr>
              <a:t>    https://thbeier.github.io/sap-ontology/client/{clientId}/{domain}/{class}/{id}</a:t>
            </a:r>
          </a:p>
          <a:p>
            <a:pPr algn="l"/>
            <a:r>
              <a:rPr sz="1500">
                <a:solidFill>
                  <a:srgbClr val="4A4A4A"/>
                </a:solidFill>
              </a:rPr>
              <a:t>Lower-model classes stay private. They flow back upstream only via the contribution process.</a:t>
            </a:r>
          </a:p>
          <a:p>
            <a:pPr algn="l"/>
            <a:r>
              <a:rPr sz="1500">
                <a:solidFill>
                  <a:srgbClr val="4A4A4A"/>
                </a:solidFill>
              </a:rPr>
              <a:t>Every instance is SHACL-validated at ingestion — Provenance + Scenario are non-negotiable.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9224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4A4A4A"/>
                </a:solidFill>
              </a:rPr>
              <a:t>SAP Ontology for Context Engineering · v0.2.0 · 10/14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228600"/>
          <a:lstStyle/>
          <a:p>
            <a:pPr algn="l"/>
            <a:r>
              <a:rPr sz="2800" b="1">
                <a:solidFill>
                  <a:srgbClr val="FFFFFF"/>
                </a:solidFill>
              </a:rPr>
              <a:t>The federation runtime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051560"/>
            <a:ext cx="1146017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006EC7"/>
                </a:solidFill>
              </a:rPr>
              <a:t>Where the schema meets real client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11277295" cy="2560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>
                <a:solidFill>
                  <a:srgbClr val="4A4A4A"/>
                </a:solidFill>
              </a:rPr>
              <a:t>Pipeline:  Extractor  →  Mapper  →  Validator (SHACL)  →  Loader  →  Neo4j</a:t>
            </a:r>
          </a:p>
          <a:p>
            <a:pPr algn="l"/>
            <a:r>
              <a:rPr sz="1500">
                <a:solidFill>
                  <a:srgbClr val="4A4A4A"/>
                </a:solidFill>
              </a:rPr>
              <a:t>Authoring formats: Excel workbook, CSV directory, raw JSON-LD.</a:t>
            </a:r>
          </a:p>
          <a:p>
            <a:pPr algn="l"/>
            <a:r>
              <a:rPr sz="1500">
                <a:solidFill>
                  <a:srgbClr val="4A4A4A"/>
                </a:solidFill>
              </a:rPr>
              <a:t>Per-tenant Neo4j databases — no cross-client data leakage.</a:t>
            </a:r>
          </a:p>
          <a:p>
            <a:pPr algn="l"/>
            <a:r>
              <a:rPr sz="1500">
                <a:solidFill>
                  <a:srgbClr val="4A4A4A"/>
                </a:solidFill>
              </a:rPr>
              <a:t>Scenario operations: fork (clone), mutate (edit), promote (lock + derive impacts), diff.</a:t>
            </a:r>
          </a:p>
          <a:p>
            <a:pPr algn="l"/>
            <a:r>
              <a:rPr sz="1500">
                <a:solidFill>
                  <a:srgbClr val="4A4A4A"/>
                </a:solidFill>
              </a:rPr>
              <a:t>CLI: sap-ontology-runtime  tenant | pipeline | scenario  ...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4663440"/>
            <a:ext cx="11277295" cy="1371600"/>
          </a:xfrm>
          <a:prstGeom prst="roundRect">
            <a:avLst/>
          </a:prstGeom>
          <a:solidFill>
            <a:srgbClr val="F2F5FA"/>
          </a:solidFill>
          <a:ln>
            <a:solidFill>
              <a:srgbClr val="006E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0B1F3A"/>
                </a:solidFill>
              </a:rPr>
              <a:t>  Excel / CSV  →  Mapper  →  SHACL  →  Loader  →  Neo4j (tenant DB)</a:t>
            </a:r>
          </a:p>
          <a:p>
            <a:pPr algn="ctr"/>
            <a:r>
              <a:rPr sz="1200">
                <a:solidFill>
                  <a:srgbClr val="4A4A4A"/>
                </a:solidFill>
              </a:rPr>
              <a:t>
Proprietary repository · pins this schema as a versioned dependency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9224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4A4A4A"/>
                </a:solidFill>
              </a:rPr>
              <a:t>SAP Ontology for Context Engineering · v0.2.0 · 11/14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228600"/>
          <a:lstStyle/>
          <a:p>
            <a:pPr algn="l"/>
            <a:r>
              <a:rPr sz="2800" b="1">
                <a:solidFill>
                  <a:srgbClr val="FFFFFF"/>
                </a:solidFill>
              </a:rPr>
              <a:t>Why clients care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051560"/>
            <a:ext cx="1146017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006EC7"/>
                </a:solidFill>
              </a:rPr>
              <a:t>Five concrete benefits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11277295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80"/>
                <a:gridCol w="8808415"/>
              </a:tblGrid>
              <a:tr h="91440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0B1F3A"/>
                          </a:solidFill>
                        </a:rPr>
                        <a:t>Agent-ready knowledge graph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4A4A4A"/>
                          </a:solidFill>
                        </a:rPr>
                        <a:t>AI agents can traverse change → config → activity → role without prompt-stuffing the entire SAP wiki.</a:t>
                      </a:r>
                    </a:p>
                  </a:txBody>
                  <a:tcPr/>
                </a:tc>
              </a:tr>
              <a:tr h="91440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0B1F3A"/>
                          </a:solidFill>
                        </a:rPr>
                        <a:t>Audit-grade lineage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4A4A4A"/>
                          </a:solidFill>
                        </a:rPr>
                        <a:t>Every fact carries Provenance — source system, timestamp, confidence. No more 'where did this come from?'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0B1F3A"/>
                          </a:solidFill>
                        </a:rPr>
                        <a:t>Scenario branching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4A4A4A"/>
                          </a:solidFill>
                        </a:rPr>
                        <a:t>Run as-is and to-be in parallel. Fork a Scenario for variant analysis without polluting production state.</a:t>
                      </a:r>
                    </a:p>
                  </a:txBody>
                  <a:tcPr/>
                </a:tc>
              </a:tr>
              <a:tr h="91440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0B1F3A"/>
                          </a:solidFill>
                        </a:rPr>
                        <a:t>Vendor-neutral by design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4A4A4A"/>
                          </a:solidFill>
                        </a:rPr>
                        <a:t>Anchored on ArchiMate / BPMN / ITIL — not on a specific tool. Survives Signavio→ARIS or LeanIX→Ardoq migrations.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0B1F3A"/>
                          </a:solidFill>
                        </a:rPr>
                        <a:t>Reuse across engagements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4A4A4A"/>
                          </a:solidFill>
                        </a:rPr>
                        <a:t>The upper model is CC-BY-SA. What you sub-class for one client's pricing flow can inform the next.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65760" y="649224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4A4A4A"/>
                </a:solidFill>
              </a:rPr>
              <a:t>SAP Ontology for Context Engineering · v0.2.0 · 12/14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228600"/>
          <a:lstStyle/>
          <a:p>
            <a:pPr algn="l"/>
            <a:r>
              <a:rPr sz="2800" b="1">
                <a:solidFill>
                  <a:srgbClr val="FFFFFF"/>
                </a:solidFill>
              </a:rPr>
              <a:t>Getting started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051560"/>
            <a:ext cx="1146017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006EC7"/>
                </a:solidFill>
              </a:rPr>
              <a:t>Engagement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11277295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>
                <a:solidFill>
                  <a:srgbClr val="4A4A4A"/>
                </a:solidFill>
              </a:rPr>
              <a:t>1. Discovery (1–2 weeks) — pick a process slice (e.g., O2C). Map source systems to the upper model.</a:t>
            </a:r>
          </a:p>
          <a:p>
            <a:pPr algn="l"/>
            <a:r>
              <a:rPr sz="1500">
                <a:solidFill>
                  <a:srgbClr val="4A4A4A"/>
                </a:solidFill>
              </a:rPr>
              <a:t>2. Pilot (4–6 weeks) — author a Scenario in Excel, run the runtime end-to-end, validate SHACL, query in Neo4j.</a:t>
            </a:r>
          </a:p>
          <a:p>
            <a:pPr algn="l"/>
            <a:r>
              <a:rPr sz="1500">
                <a:solidFill>
                  <a:srgbClr val="4A4A4A"/>
                </a:solidFill>
              </a:rPr>
              <a:t>3. Scale — onboard additional Scenarios; sub-class for client-specific concepts; integrate AI agents.</a:t>
            </a:r>
          </a:p>
          <a:p>
            <a:pPr algn="l"/>
            <a:r>
              <a:rPr sz="1500">
                <a:solidFill>
                  <a:srgbClr val="4A4A4A"/>
                </a:solidFill>
              </a:rPr>
              <a:t>Governance: Deloitte SAP Operate + Methods &amp; Tools steer the upper model. External PRs welcome.</a:t>
            </a:r>
          </a:p>
          <a:p>
            <a:pPr algn="l"/>
            <a:r>
              <a:rPr sz="1500">
                <a:solidFill>
                  <a:srgbClr val="4A4A4A"/>
                </a:solidFill>
              </a:rPr>
              <a:t>License: schema CC-BY-SA 4.0. Mapper configurations and runtime are Deloitte proprietary.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9224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4A4A4A"/>
                </a:solidFill>
              </a:rPr>
              <a:t>SAP Ontology for Context Engineering · v0.2.0 · 13/14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72865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</a:rPr>
              <a:t>Let's pilot it.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108960"/>
            <a:ext cx="10728655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>
                <a:solidFill>
                  <a:srgbClr val="FFFFFF"/>
                </a:solidFill>
              </a:rPr>
              <a:t>Pick a process — O2C, P2P, R2R, or your highest-pain area.</a:t>
            </a:r>
          </a:p>
          <a:p>
            <a:pPr algn="l"/>
            <a:r>
              <a:rPr sz="1800">
                <a:solidFill>
                  <a:srgbClr val="FFFFFF"/>
                </a:solidFill>
              </a:rPr>
              <a:t>We'll spin up a Scenario in 4–6 weeks and run the first agent queries against your data.</a:t>
            </a:r>
          </a:p>
          <a:p>
            <a:pPr algn="l"/>
            <a:r>
              <a:rPr sz="1800">
                <a:solidFill>
                  <a:srgbClr val="FFFFFF"/>
                </a:solidFill>
              </a:rPr>
              <a:t>Discussion: which process? which source systems? which target Neo4j environment?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